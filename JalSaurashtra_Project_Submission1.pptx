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56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56655" y="1188720"/>
            <a:ext cx="6583680" cy="6583680"/>
          </a:xfrm>
          <a:prstGeom prst="ellipse">
            <a:avLst/>
          </a:prstGeom>
          <a:ln w="17780">
            <a:solidFill>
              <a:srgbClr val="4A9D6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79615" y="2011680"/>
            <a:ext cx="4937760" cy="4937760"/>
          </a:xfrm>
          <a:prstGeom prst="ellipse">
            <a:avLst/>
          </a:prstGeom>
          <a:ln w="17780">
            <a:solidFill>
              <a:srgbClr val="4A9D62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11135" y="2743200"/>
            <a:ext cx="3474720" cy="3474720"/>
          </a:xfrm>
          <a:prstGeom prst="ellipse">
            <a:avLst/>
          </a:prstGeom>
          <a:ln w="17780">
            <a:solidFill>
              <a:srgbClr val="4A9D62">
                <a:alpha val="5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42855" y="4617720"/>
            <a:ext cx="502920" cy="502920"/>
          </a:xfrm>
          <a:prstGeom prst="ellipse">
            <a:avLst/>
          </a:prstGeom>
          <a:solidFill>
            <a:srgbClr val="3A9FD4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85800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4A9D62">
              <a:alpha val="18000"/>
            </a:srgbClr>
          </a:solidFill>
          <a:ln w="9525">
            <a:solidFill>
              <a:srgbClr val="4A9D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858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&amp; WATER MANAGEMENT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JalSaurashtra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FE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Drought &amp; Groundwater Depletion Advisor for Saurashtra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system that assesses groundwater depletion trends, recommends water-efficient farming practices, and guides community-level recharge interventions for farmers across Saurashtra, Gujarat.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280160" cy="0"/>
          </a:xfrm>
          <a:prstGeom prst="line">
            <a:avLst/>
          </a:prstGeom>
          <a:noFill/>
          <a:ln w="31750">
            <a:solidFill>
              <a:srgbClr val="4A9D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663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University Engagement Program  •  Powered by IBM Granite, watsonx.ai &amp; Langflow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074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AE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Submission  |  Eduent Foundation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AA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Power of Agentic AI with IBM Granite and LangFlow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SUBMISSION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Submission Details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8F5EE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Title:  </a:t>
            </a:r>
            <a:r>
              <a:rPr lang="en-US" sz="15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JalSaurashtra – Intelligent Drought &amp; Groundwater Depletion Advisor
</a:t>
            </a:r>
            <a:r>
              <a:rPr lang="en-US" sz="15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 </a:t>
            </a:r>
            <a:r>
              <a:rPr lang="en-US" sz="15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&amp; Water Management  (Agriculture · Groundwater · Climate Resilience)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3106436" cy="457200"/>
          </a:xfrm>
          <a:prstGeom prst="rect">
            <a:avLst/>
          </a:prstGeom>
          <a:solidFill>
            <a:srgbClr val="0F4C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3106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3106436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  <p:txBody>
          <a:bodyPr/>
          <a:lstStyle/>
          <a:p>
            <a:pPr algn="ctr"/>
            <a:r>
              <a:rPr lang="en-IN" dirty="0"/>
              <a:t>Bhaliya Paras </a:t>
            </a:r>
          </a:p>
        </p:txBody>
      </p:sp>
      <p:sp>
        <p:nvSpPr>
          <p:cNvPr id="10" name="Shape 8"/>
          <p:cNvSpPr/>
          <p:nvPr/>
        </p:nvSpPr>
        <p:spPr>
          <a:xfrm>
            <a:off x="3655076" y="3246120"/>
            <a:ext cx="2440771" cy="457200"/>
          </a:xfrm>
          <a:prstGeom prst="rect">
            <a:avLst/>
          </a:prstGeom>
          <a:solidFill>
            <a:srgbClr val="0F4C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5076" y="3246120"/>
            <a:ext cx="24407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Passport Photo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5076" y="3703320"/>
            <a:ext cx="2440771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5848" y="3246120"/>
            <a:ext cx="3106436" cy="457200"/>
          </a:xfrm>
          <a:prstGeom prst="rect">
            <a:avLst/>
          </a:prstGeom>
          <a:solidFill>
            <a:srgbClr val="0F4C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5848" y="3246120"/>
            <a:ext cx="3106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95848" y="3703320"/>
            <a:ext cx="3106436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  <p:txBody>
          <a:bodyPr/>
          <a:lstStyle/>
          <a:p>
            <a:pPr algn="ctr"/>
            <a:r>
              <a:rPr lang="en-IN" dirty="0"/>
              <a:t>parasbhaliya2@gmail.com</a:t>
            </a:r>
          </a:p>
        </p:txBody>
      </p:sp>
      <p:sp>
        <p:nvSpPr>
          <p:cNvPr id="16" name="Shape 14"/>
          <p:cNvSpPr/>
          <p:nvPr/>
        </p:nvSpPr>
        <p:spPr>
          <a:xfrm>
            <a:off x="9202284" y="3246120"/>
            <a:ext cx="2440771" cy="457200"/>
          </a:xfrm>
          <a:prstGeom prst="rect">
            <a:avLst/>
          </a:prstGeom>
          <a:solidFill>
            <a:srgbClr val="0F4C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02284" y="3246120"/>
            <a:ext cx="24407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Number (WhatsApp)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202284" y="3703320"/>
            <a:ext cx="2440771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  <p:txBody>
          <a:bodyPr/>
          <a:lstStyle/>
          <a:p>
            <a:pPr algn="ctr"/>
            <a:r>
              <a:rPr lang="en-IN" dirty="0"/>
              <a:t>7600645406</a:t>
            </a:r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51663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submission includes: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559552"/>
            <a:ext cx="1821485" cy="384048"/>
          </a:xfrm>
          <a:prstGeom prst="roundRect">
            <a:avLst>
              <a:gd name="adj" fmla="val 50000"/>
            </a:avLst>
          </a:prstGeom>
          <a:solidFill>
            <a:srgbClr val="F4F7F5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559552"/>
            <a:ext cx="18214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34717" y="5559552"/>
            <a:ext cx="2143354" cy="384048"/>
          </a:xfrm>
          <a:prstGeom prst="roundRect">
            <a:avLst>
              <a:gd name="adj" fmla="val 50000"/>
            </a:avLst>
          </a:prstGeom>
          <a:solidFill>
            <a:srgbClr val="F4F7F5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34717" y="5559552"/>
            <a:ext cx="21433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2662" y="5559552"/>
            <a:ext cx="2867558" cy="384048"/>
          </a:xfrm>
          <a:prstGeom prst="roundRect">
            <a:avLst>
              <a:gd name="adj" fmla="val 50000"/>
            </a:avLst>
          </a:prstGeom>
          <a:solidFill>
            <a:srgbClr val="F4F7F5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2662" y="5559552"/>
            <a:ext cx="28675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(Live Screens)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874813" y="5559552"/>
            <a:ext cx="2062886" cy="384048"/>
          </a:xfrm>
          <a:prstGeom prst="roundRect">
            <a:avLst>
              <a:gd name="adj" fmla="val 50000"/>
            </a:avLst>
          </a:prstGeom>
          <a:solidFill>
            <a:srgbClr val="F4F7F5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74813" y="5559552"/>
            <a:ext cx="20628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Future Scope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JalSaurashtra  |  Drought &amp; Groundwater Depletion Advisor for Saurashtra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31D5191-8758-A11D-796E-2003C59F9B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239" t="6667" b="33333"/>
          <a:stretch>
            <a:fillRect/>
          </a:stretch>
        </p:blipFill>
        <p:spPr>
          <a:xfrm>
            <a:off x="4539319" y="3726180"/>
            <a:ext cx="672285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DE8E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DE8E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492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  <a:effectLst>
            <a:outerShdw blurRad="101600" dist="25400" dir="5400000" algn="bl" rotWithShape="0">
              <a:srgbClr val="1A1F1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0116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Drought &amp; Severe Groundwater Depletion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50592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Saurashtra region of Gujarat faces recurring drought conditions and severe groundwater depletion, driven largely by over-extraction of water for agriculture. Farmers lack timely, localized guidance on: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24612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stressed their groundwater situation really is, in real time</a:t>
            </a:r>
            <a:endParaRPr lang="en-US" sz="1300" dirty="0"/>
          </a:p>
          <a:p>
            <a:pPr marL="228600" indent="-2286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crops and irrigation methods are truly water-efficient for their soil &amp; season</a:t>
            </a:r>
            <a:endParaRPr lang="en-US" sz="1300" dirty="0"/>
          </a:p>
          <a:p>
            <a:pPr marL="228600" indent="-2286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how to intervene before conditions turn critical</a:t>
            </a:r>
            <a:endParaRPr lang="en-US" sz="1300" dirty="0"/>
          </a:p>
          <a:p>
            <a:pPr marL="228600" indent="-2286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groundwater-recharge structure suits their land and community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50749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falling water tables, failed harvests, and communities left to respond to water crises only after they escalate.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0" y="1783080"/>
            <a:ext cx="4343400" cy="1325880"/>
          </a:xfrm>
          <a:prstGeom prst="roundRect">
            <a:avLst>
              <a:gd name="adj" fmla="val 6897"/>
            </a:avLst>
          </a:prstGeom>
          <a:solidFill>
            <a:srgbClr val="F4F7F5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8928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9520" y="25328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Saurashtra districts affected by chronic water stress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0" y="3291840"/>
            <a:ext cx="4343400" cy="1325880"/>
          </a:xfrm>
          <a:prstGeom prst="roundRect">
            <a:avLst>
              <a:gd name="adj" fmla="val 6897"/>
            </a:avLst>
          </a:prstGeom>
          <a:solidFill>
            <a:srgbClr val="F4F7F5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34015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589520" y="40416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Saurashtra's irrigation depends on groundwater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0" y="4800600"/>
            <a:ext cx="4343400" cy="1325880"/>
          </a:xfrm>
          <a:prstGeom prst="roundRect">
            <a:avLst>
              <a:gd name="adj" fmla="val 6897"/>
            </a:avLst>
          </a:prstGeom>
          <a:solidFill>
            <a:srgbClr val="F4F7F5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49103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589520" y="55504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farmer-facing early-warning tools in most villages today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JalSaurashtra  |  Drought &amp; Groundwater Depletion Advisor for Saurashtra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Agentic AI that turns fragmented water data into confident, community-level action.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15258" cy="356616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  <a:effectLst>
            <a:outerShdw blurRad="101600" dist="25400" dir="5400000" algn="bl" rotWithShape="0">
              <a:srgbClr val="1A1F1A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94789" y="2377440"/>
            <a:ext cx="822960" cy="822960"/>
          </a:xfrm>
          <a:prstGeom prst="ellipse">
            <a:avLst/>
          </a:prstGeom>
          <a:solidFill>
            <a:srgbClr val="E4F2FB"/>
          </a:solidFill>
          <a:ln/>
        </p:spPr>
      </p:sp>
      <p:sp>
        <p:nvSpPr>
          <p:cNvPr id="8" name="Text 6"/>
          <p:cNvSpPr/>
          <p:nvPr/>
        </p:nvSpPr>
        <p:spPr>
          <a:xfrm>
            <a:off x="1894789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04672" y="3383280"/>
            <a:ext cx="30031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Groundwater Depletion Trends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track depth-to-groundwater against safe &amp; critical thresholds across Saurashtra districts and surface early warnings.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8218" y="2103120"/>
            <a:ext cx="3515258" cy="356616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  <a:effectLst>
            <a:outerShdw blurRad="101600" dist="25400" dir="5400000" algn="bl" rotWithShape="0">
              <a:srgbClr val="1A1F1A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84368" y="2377440"/>
            <a:ext cx="822960" cy="82296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5684368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94250" y="3383280"/>
            <a:ext cx="30031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Water-Efficient Farming Practices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2538" y="425196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crop choice, irrigation method, and scheduling to each farm's soil, season, and water availability.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27797" y="2103120"/>
            <a:ext cx="3515258" cy="356616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  <a:effectLst>
            <a:outerShdw blurRad="101600" dist="25400" dir="5400000" algn="bl" rotWithShape="0">
              <a:srgbClr val="1A1F1A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73946" y="2377440"/>
            <a:ext cx="822960" cy="822960"/>
          </a:xfrm>
          <a:prstGeom prst="ellipse">
            <a:avLst/>
          </a:prstGeom>
          <a:solidFill>
            <a:srgbClr val="E0F4F2"/>
          </a:solidFill>
          <a:ln/>
        </p:spPr>
      </p:sp>
      <p:sp>
        <p:nvSpPr>
          <p:cNvPr id="18" name="Text 16"/>
          <p:cNvSpPr/>
          <p:nvPr/>
        </p:nvSpPr>
        <p:spPr>
          <a:xfrm>
            <a:off x="9473946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383829" y="3383280"/>
            <a:ext cx="30031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Community-Level Recharge Interventions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02117" y="425196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villages and farms to the right recharge structure — farm ponds, check dams, percolation tanks, recharge wells.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JalSaurashtra  |  Drought &amp; Groundwater Depletion Advisor for Saurashtra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JalSaurashtra: An Agentic AI Water Advisor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JalSaurashtra is a multi-agent, AI-powered decision-support platform built on Langflow, IBM Granite, and IBM watsonx.ai. It converts scattered groundwater, rainfall, soil, and crop information into a single, personalized water-action plan for every farm — then extends that intelligence to community-level recharge planning.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563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49631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 —  </a:t>
            </a:r>
            <a:r>
              <a:rPr lang="en-US" sz="125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or field officers enter farm, soil, irrigation, and groundwater details through a simple guided form.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563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4290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 —  </a:t>
            </a:r>
            <a:r>
              <a:rPr lang="en-US" sz="125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score drought/water stress, cross-check groundwater trend data, and retrieve locally-relevant agronomic knowledge via RAG.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7997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563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379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43616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 —  </a:t>
            </a:r>
            <a:r>
              <a:rPr lang="en-US" sz="125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returns a water-stress score, safer crop choices, irrigation guidance, and a 30-day water-smart action plan.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31266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563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312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529437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 —  </a:t>
            </a:r>
            <a:r>
              <a:rPr lang="en-US" sz="125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recharge agent matches land slope, soil, and rainfall to the right community recharge structure.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452360" y="51389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Farmer-facing web application — home screen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6172200"/>
            <a:ext cx="11094415" cy="91"/>
          </a:xfrm>
          <a:prstGeom prst="roundRect">
            <a:avLst/>
          </a:prstGeom>
          <a:noFill/>
          <a:ln/>
        </p:spPr>
      </p:sp>
      <p:sp>
        <p:nvSpPr>
          <p:cNvPr id="22" name="Text 19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JalSaurashtra  |  Drought &amp; Groundwater Depletion Advisor for Saurashtra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ABB7748-F9E2-605E-D44D-6850D2F50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409" y="2564835"/>
            <a:ext cx="4672352" cy="25055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32120" cy="4434840"/>
          </a:xfrm>
          <a:prstGeom prst="roundRect">
            <a:avLst>
              <a:gd name="adj" fmla="val 2062"/>
            </a:avLst>
          </a:prstGeom>
          <a:solidFill>
            <a:srgbClr val="E8F5EE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Agentic AI Architecture (Backend)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450592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 — </a:t>
            </a:r>
            <a:r>
              <a:rPr lang="en-US" sz="113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multi-agent workflow visually and routes requests between specialized agents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822960" y="3076956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Models — </a:t>
            </a:r>
            <a:r>
              <a:rPr lang="en-US" sz="113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ibm-granite-3-2-8b for natural language understanding, reasoning, and recommendation generation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watsonx.ai — </a:t>
            </a:r>
            <a:r>
              <a:rPr lang="en-US" sz="113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deployment, embeddings, and AI governance for the advisory agents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822960" y="4329684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(Retrieval-Augmented Generation) — </a:t>
            </a:r>
            <a:r>
              <a:rPr lang="en-US" sz="113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recommendations in verified agronomy, groundwater, and rainfall reference data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822960" y="4956048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(FAISS / Chroma) — </a:t>
            </a:r>
            <a:r>
              <a:rPr lang="en-US" sz="113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and retrieves district-level groundwater, crop, and rainfall knowledge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822960" y="5582412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 — </a:t>
            </a:r>
            <a:r>
              <a:rPr lang="en-US" sz="113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secure, scalable infrastructure to build and deploy the agent network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355080" y="1783080"/>
            <a:ext cx="5287975" cy="4434840"/>
          </a:xfrm>
          <a:prstGeom prst="roundRect">
            <a:avLst>
              <a:gd name="adj" fmla="val 2062"/>
            </a:avLst>
          </a:prstGeom>
          <a:solidFill>
            <a:srgbClr val="E4F2FB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965960"/>
            <a:ext cx="4739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Working Prototype (Delivered)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629400" y="2450592"/>
            <a:ext cx="4739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 — </a:t>
            </a:r>
            <a:r>
              <a:rPr lang="en-US" sz="113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mobile-first farmer-facing web application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6629400" y="3200400"/>
            <a:ext cx="4739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— </a:t>
            </a:r>
            <a:r>
              <a:rPr lang="en-US" sz="113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groundwater trend, rainfall, and crop-comparison charts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6629400" y="3950208"/>
            <a:ext cx="4739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Visualization — </a:t>
            </a:r>
            <a:r>
              <a:rPr lang="en-US" sz="113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Saurashtra overview map and illustrative graphics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6629400" y="4700016"/>
            <a:ext cx="4739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Decision Engine — </a:t>
            </a:r>
            <a:r>
              <a:rPr lang="en-US" sz="113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the agent logic end-to-end today; built to swap in Granite/Langflow agent calls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6629400" y="5449824"/>
            <a:ext cx="4739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UI — </a:t>
            </a:r>
            <a:r>
              <a:rPr lang="en-US" sz="113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/ Gujarati toggle for grassroots accessibility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JalSaurashtra  |  Drought &amp; Groundwater Depletion Advisor for Saurashtra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 COMPONENTS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Components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56816"/>
            <a:ext cx="548640" cy="548640"/>
          </a:xfrm>
          <a:prstGeom prst="ellipse">
            <a:avLst/>
          </a:prstGeom>
          <a:solidFill>
            <a:srgbClr val="FDE8E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56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🌵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5568" y="2350008"/>
            <a:ext cx="274320" cy="274320"/>
          </a:xfrm>
          <a:prstGeom prst="rect">
            <a:avLst/>
          </a:prstGeom>
          <a:solidFill>
            <a:srgbClr val="9B1C1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187452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&amp; Water-Stress Agent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6659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farm's water stress (0–100) from soil, irrigation, water availability and rainfall outlook, and triggers tiered alerts.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25496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2999232"/>
            <a:ext cx="548640" cy="54864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🌾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15568" y="3392424"/>
            <a:ext cx="274320" cy="274320"/>
          </a:xfrm>
          <a:prstGeom prst="rect">
            <a:avLst/>
          </a:prstGeom>
          <a:solidFill>
            <a:srgbClr val="1E563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2916936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Water-Efficient Crop Advisory Agent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46320" y="2916936"/>
            <a:ext cx="6659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ranks crops by season, soil, drought tolerance and water need; powers side-by-side crop comparisons.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867912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041648"/>
            <a:ext cx="548640" cy="548640"/>
          </a:xfrm>
          <a:prstGeom prst="ellipse">
            <a:avLst/>
          </a:prstGeom>
          <a:solidFill>
            <a:srgbClr val="E4F2FB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041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15568" y="4434840"/>
            <a:ext cx="274320" cy="274320"/>
          </a:xfrm>
          <a:prstGeom prst="rect">
            <a:avLst/>
          </a:prstGeom>
          <a:solidFill>
            <a:srgbClr val="0F4C7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3959352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Monitoring Agent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46320" y="3959352"/>
            <a:ext cx="6659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depth-to-groundwater vs. safe/critical thresholds per district and classifies status: Normal → Watch → Warning → Critical.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910328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5084064"/>
            <a:ext cx="548640" cy="548640"/>
          </a:xfrm>
          <a:prstGeom prst="ellipse">
            <a:avLst/>
          </a:prstGeom>
          <a:solidFill>
            <a:srgbClr val="E0F4F2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5084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♻️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15568" y="5477256"/>
            <a:ext cx="274320" cy="274320"/>
          </a:xfrm>
          <a:prstGeom prst="rect">
            <a:avLst/>
          </a:prstGeom>
          <a:solidFill>
            <a:srgbClr val="0E8A7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500176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E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Advisory Agent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46320" y="5001768"/>
            <a:ext cx="6659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soil, slope, farm size and rainfall to the right recharge structure — farm pond, check dam, percolation tank, recharge well.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952744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6126480"/>
            <a:ext cx="548640" cy="548640"/>
          </a:xfrm>
          <a:prstGeom prst="ellipse">
            <a:avLst/>
          </a:prstGeom>
          <a:solidFill>
            <a:srgbClr val="F5EDE4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6126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15568" y="6519672"/>
            <a:ext cx="274320" cy="274320"/>
          </a:xfrm>
          <a:prstGeom prst="rect">
            <a:avLst/>
          </a:prstGeom>
          <a:solidFill>
            <a:srgbClr val="7A5C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63040" y="6044184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7A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&amp; Dashboard Agent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846320" y="6044184"/>
            <a:ext cx="6659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every agent's output into one unified advisory dashboard and a 30-day water-smart action plan for the farmer.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JalSaurashtra  |  Drought &amp; Groundwater Depletion Advisor for Saurashtra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4896" y="1664208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4F7F5"/>
          </a:solidFill>
          <a:ln w="15875">
            <a:solidFill>
              <a:srgbClr val="DDD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048" y="1664208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Input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(Farm &amp; Soil Form)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80664" y="1664208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4F7F5"/>
          </a:solidFill>
          <a:ln w="15875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3816" y="1664208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Data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(CGWB / GWRDC)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6432" y="1664208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4F7F5"/>
          </a:solidFill>
          <a:ln w="15875">
            <a:solidFill>
              <a:srgbClr val="DD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9584" y="1664208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Data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912200" y="1664208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4F7F5"/>
          </a:solidFill>
          <a:ln w="15875">
            <a:solidFill>
              <a:srgbClr val="DDD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85352" y="1664208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&amp; Soil Reference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(ICAR / SAU)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58688" y="2359152"/>
            <a:ext cx="274320" cy="219456"/>
          </a:xfrm>
          <a:prstGeom prst="downArrow">
            <a:avLst/>
          </a:prstGeom>
          <a:solidFill>
            <a:srgbClr val="5A6057"/>
          </a:solidFill>
          <a:ln/>
        </p:spPr>
      </p:sp>
      <p:sp>
        <p:nvSpPr>
          <p:cNvPr id="14" name="Shape 12"/>
          <p:cNvSpPr/>
          <p:nvPr/>
        </p:nvSpPr>
        <p:spPr>
          <a:xfrm>
            <a:off x="3718408" y="2615184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0D3B2E"/>
          </a:solidFill>
          <a:ln w="15875">
            <a:solidFill>
              <a:srgbClr val="0D3B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8408" y="26151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Langflow Agent Orchestrator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58688" y="3154680"/>
            <a:ext cx="274320" cy="219456"/>
          </a:xfrm>
          <a:prstGeom prst="downArrow">
            <a:avLst/>
          </a:prstGeom>
          <a:solidFill>
            <a:srgbClr val="5A6057"/>
          </a:solidFill>
          <a:ln/>
        </p:spPr>
      </p:sp>
      <p:sp>
        <p:nvSpPr>
          <p:cNvPr id="17" name="Shape 15"/>
          <p:cNvSpPr/>
          <p:nvPr/>
        </p:nvSpPr>
        <p:spPr>
          <a:xfrm>
            <a:off x="764896" y="3410712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DE8E8"/>
          </a:solidFill>
          <a:ln w="15875">
            <a:solidFill>
              <a:srgbClr val="9B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048" y="3410712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&amp; Water-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Agent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80664" y="3410712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E8F5EE"/>
          </a:solidFill>
          <a:ln w="15875">
            <a:solidFill>
              <a:srgbClr val="1E56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3816" y="3410712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Advisory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96432" y="3410712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E4F2FB"/>
          </a:solidFill>
          <a:ln w="15875">
            <a:solidFill>
              <a:srgbClr val="0F4C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9584" y="3410712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Agent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12200" y="3410712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E0F4F2"/>
          </a:solidFill>
          <a:ln w="15875">
            <a:solidFill>
              <a:srgbClr val="0E8A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85352" y="3410712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E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E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Agent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58688" y="4224528"/>
            <a:ext cx="274320" cy="219456"/>
          </a:xfrm>
          <a:prstGeom prst="downArrow">
            <a:avLst/>
          </a:prstGeom>
          <a:solidFill>
            <a:srgbClr val="5A6057"/>
          </a:solidFill>
          <a:ln/>
        </p:spPr>
      </p:sp>
      <p:sp>
        <p:nvSpPr>
          <p:cNvPr id="26" name="Shape 24"/>
          <p:cNvSpPr/>
          <p:nvPr/>
        </p:nvSpPr>
        <p:spPr>
          <a:xfrm>
            <a:off x="2758288" y="4480560"/>
            <a:ext cx="6675120" cy="502920"/>
          </a:xfrm>
          <a:prstGeom prst="roundRect">
            <a:avLst>
              <a:gd name="adj" fmla="val 14545"/>
            </a:avLst>
          </a:prstGeom>
          <a:solidFill>
            <a:srgbClr val="F5EDE4"/>
          </a:solidFill>
          <a:ln w="15875">
            <a:solidFill>
              <a:srgbClr val="7A5C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58288" y="448056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A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IBM Granite Models  +  IBM watsonx.ai  +  RAG (Vector DB: FAISS / Chroma)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58688" y="5020056"/>
            <a:ext cx="274320" cy="219456"/>
          </a:xfrm>
          <a:prstGeom prst="downArrow">
            <a:avLst/>
          </a:prstGeom>
          <a:solidFill>
            <a:srgbClr val="5A6057"/>
          </a:solidFill>
          <a:ln/>
        </p:spPr>
      </p:sp>
      <p:sp>
        <p:nvSpPr>
          <p:cNvPr id="29" name="Shape 27"/>
          <p:cNvSpPr/>
          <p:nvPr/>
        </p:nvSpPr>
        <p:spPr>
          <a:xfrm>
            <a:off x="3352648" y="5276088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1E5631"/>
          </a:solidFill>
          <a:ln w="15875">
            <a:solidFill>
              <a:srgbClr val="1E56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2648" y="52760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Personalized Advisory Dashboard — Farmer &amp; Field-Officer Web App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JalSaurashtra  |  Drought &amp; Groundwater Depletion Advisor for Saurashtra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AGENTIC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Agentic AI in the Solution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537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a single chatbot, JalSaurashtra uses autonomous, cooperating agents — orchestrated in Langflow and reasoned over by IBM Granite models — to plan, retrieve, decide and act across the full water-management journey.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10896" cy="310896"/>
          </a:xfrm>
          <a:prstGeom prst="ellipse">
            <a:avLst/>
          </a:prstGeom>
          <a:solidFill>
            <a:srgbClr val="1E563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551176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  —  </a:t>
            </a:r>
            <a:r>
              <a:rPr lang="en-US" sz="118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chains multiple decisions — stress scoring, threshold checks, crop matching — instead of returning a single canned reply.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548640" y="3502152"/>
            <a:ext cx="310896" cy="310896"/>
          </a:xfrm>
          <a:prstGeom prst="ellipse">
            <a:avLst/>
          </a:prstGeom>
          <a:solidFill>
            <a:srgbClr val="1E563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44728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&amp; Data Grounded  —  </a:t>
            </a:r>
            <a:r>
              <a:rPr lang="en-US" sz="118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call groundwater, rainfall and crop-reference tools via RAG, so answers are grounded in current, local conditions.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548640" y="4398264"/>
            <a:ext cx="310896" cy="310896"/>
          </a:xfrm>
          <a:prstGeom prst="ellipse">
            <a:avLst/>
          </a:prstGeom>
          <a:solidFill>
            <a:srgbClr val="1E563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398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3434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Personalization  —  </a:t>
            </a:r>
            <a:r>
              <a:rPr lang="en-US" sz="118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adapt to each farm's district, soil, crop, irrigation method and groundwater depth — not generic advice.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548640" y="5294376"/>
            <a:ext cx="310896" cy="310896"/>
          </a:xfrm>
          <a:prstGeom prst="ellipse">
            <a:avLst/>
          </a:prstGeom>
          <a:solidFill>
            <a:srgbClr val="1E563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294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523951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Not Reactive  —  </a:t>
            </a:r>
            <a:r>
              <a:rPr lang="en-US" sz="118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raises alerts and 30-day action plans before conditions become critical, rather than waiting to be asked.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7360920" y="1463040"/>
            <a:ext cx="4279392" cy="4709160"/>
          </a:xfrm>
          <a:prstGeom prst="roundRect">
            <a:avLst>
              <a:gd name="adj" fmla="val 2137"/>
            </a:avLst>
          </a:prstGeom>
          <a:solidFill>
            <a:srgbClr val="0D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7360920" y="1828800"/>
            <a:ext cx="4279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🤖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7589520" y="3063240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Chatbot to</a:t>
            </a:r>
            <a:endParaRPr lang="en-US" sz="1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Co-Pilot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589520" y="3886200"/>
            <a:ext cx="38221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D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single-turn chatbot answers questions.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D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system plans, checks thresholds, retrieves local data, coordinates specialist agents, and delivers a complete, actionable water plan — the way a trusted local water officer would.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JalSaurashtra  |  Drought &amp; Groundwater Depletion Advisor for Saurashtra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IN 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Drought &amp; Water-Stress Advisory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 from the JalSaurashtra web application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JalSaurashtra  |  Drought &amp; Groundwater Depletion Advisor for Saurashtra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24F2AA2-B841-B240-354B-0ABAFC701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15256"/>
            <a:ext cx="5060562" cy="27216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9FCCE5-86FC-2BDA-0C50-1057B355A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84" y="2215255"/>
            <a:ext cx="5080271" cy="27216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IN 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Monitoring &amp; Regional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depletion trends across Saurashtra districts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JalSaurashtra  |  Drought &amp; Groundwater Depletion Advisor for Saurashtra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B964659-5DA0-5126-53EA-EFEA0F926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71" y="2106310"/>
            <a:ext cx="5232824" cy="26532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02B8C8-2E10-4F58-686E-004009032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740" y="2106310"/>
            <a:ext cx="4947768" cy="26532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IN 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Advisory &amp; Community Recharge Planning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water-efficient crops and recharge structures to local conditions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JalSaurashtra  |  Drought &amp; Groundwater Depletion Advisor for Saurashtra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5CED301-E509-CA6A-EA18-A747D24EE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83495"/>
            <a:ext cx="5330549" cy="28529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56396D2-C8C2-CDEB-24C3-3F397FB4C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283" y="2083495"/>
            <a:ext cx="5330549" cy="28557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and Uniqueness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8718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  <a:effectLst>
            <a:outerShdw blurRad="76200" dist="25400" dir="5400000" algn="bl" rotWithShape="0">
              <a:srgbClr val="1A1F1A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82296" cy="1280160"/>
          </a:xfrm>
          <a:prstGeom prst="rect">
            <a:avLst/>
          </a:prstGeom>
          <a:solidFill>
            <a:srgbClr val="1E563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819656"/>
            <a:ext cx="4884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Specialization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194560"/>
            <a:ext cx="48842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agents for drought risk, crops, groundwater trends and recharge — not one generic chatbot.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55868" y="1691640"/>
            <a:ext cx="538718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  <a:effectLst>
            <a:outerShdw blurRad="76200" dist="25400" dir="5400000" algn="bl" rotWithShape="0">
              <a:srgbClr val="1A1F1A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55868" y="1691640"/>
            <a:ext cx="82296" cy="128016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1" name="Text 9"/>
          <p:cNvSpPr/>
          <p:nvPr/>
        </p:nvSpPr>
        <p:spPr>
          <a:xfrm>
            <a:off x="6548476" y="1819656"/>
            <a:ext cx="4884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Groundwater-Aware Reasoning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48476" y="2194560"/>
            <a:ext cx="48842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live depth-to-groundwater against safe &amp; critical thresholds to trigger tiered, explainable alerts.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72968"/>
            <a:ext cx="538718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  <a:effectLst>
            <a:outerShdw blurRad="76200" dist="25400" dir="5400000" algn="bl" rotWithShape="0">
              <a:srgbClr val="1A1F1A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72968"/>
            <a:ext cx="82296" cy="1280160"/>
          </a:xfrm>
          <a:prstGeom prst="rect">
            <a:avLst/>
          </a:prstGeom>
          <a:solidFill>
            <a:srgbClr val="0E8A7E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300984"/>
            <a:ext cx="4884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Hyper-Local to Saurashtra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1248" y="3675888"/>
            <a:ext cx="48842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&amp; taluka-level granularity across all 10 Saurashtra districts, tuned to regional soils and rainfall.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55868" y="3172968"/>
            <a:ext cx="538718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  <a:effectLst>
            <a:outerShdw blurRad="76200" dist="25400" dir="5400000" algn="bl" rotWithShape="0">
              <a:srgbClr val="1A1F1A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55868" y="3172968"/>
            <a:ext cx="82296" cy="12801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6548476" y="3300984"/>
            <a:ext cx="4884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Plans, Not Just Scores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48476" y="3675888"/>
            <a:ext cx="48842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full 30-day water-smart action plan — concrete steps, not just a diagnosis.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538718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  <a:effectLst>
            <a:outerShdw blurRad="76200" dist="25400" dir="5400000" algn="bl" rotWithShape="0">
              <a:srgbClr val="1A1F1A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654296"/>
            <a:ext cx="82296" cy="1280160"/>
          </a:xfrm>
          <a:prstGeom prst="rect">
            <a:avLst/>
          </a:prstGeom>
          <a:solidFill>
            <a:srgbClr val="7A5C44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4782312"/>
            <a:ext cx="4884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Recharge Guidance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41248" y="5157216"/>
            <a:ext cx="48842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beyond the individual farm to village-level recharge interventions matched to land and rainfall.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55868" y="4654296"/>
            <a:ext cx="538718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  <a:effectLst>
            <a:outerShdw blurRad="76200" dist="25400" dir="5400000" algn="bl" rotWithShape="0">
              <a:srgbClr val="1A1F1A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55868" y="4654296"/>
            <a:ext cx="82296" cy="1280160"/>
          </a:xfrm>
          <a:prstGeom prst="rect">
            <a:avLst/>
          </a:prstGeom>
          <a:solidFill>
            <a:srgbClr val="9B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6548476" y="4782312"/>
            <a:ext cx="4884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 Data Integration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48476" y="5157216"/>
            <a:ext cx="48842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Architected to plug directly into CGWB/GWRDC groundwater feeds, IMD rainfall, and ICAR crop datasets.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JalSaurashtra  |  Drought &amp; Groundwater Depletion Advisor for Saurashtra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15258" cy="1920240"/>
          </a:xfrm>
          <a:prstGeom prst="roundRect">
            <a:avLst>
              <a:gd name="adj" fmla="val 4762"/>
            </a:avLst>
          </a:prstGeom>
          <a:solidFill>
            <a:srgbClr val="F4F7F5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95373" y="196596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95373" y="1965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679192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Integration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081528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CGWB/GWRDC groundwater feeds, IMD rainfall, and ICAR crop datasets to replace demonstration data.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338218" y="1783080"/>
            <a:ext cx="3515258" cy="1920240"/>
          </a:xfrm>
          <a:prstGeom prst="roundRect">
            <a:avLst>
              <a:gd name="adj" fmla="val 4762"/>
            </a:avLst>
          </a:prstGeom>
          <a:solidFill>
            <a:srgbClr val="F4F7F5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84952" y="196596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4952" y="1965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🛰️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21098" y="2679192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Satellite Monitoring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1098" y="3081528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Piezometer networks and satellite soil-moisture data for automated, village-wide groundwater telemetry.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127797" y="1783080"/>
            <a:ext cx="3515258" cy="1920240"/>
          </a:xfrm>
          <a:prstGeom prst="roundRect">
            <a:avLst>
              <a:gd name="adj" fmla="val 4762"/>
            </a:avLst>
          </a:prstGeom>
          <a:solidFill>
            <a:srgbClr val="F4F7F5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74530" y="196596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74530" y="1965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10677" y="2679192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SMS/WhatsApp Alerts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10677" y="3081528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voice assistant and offline-friendly SMS/WhatsApp alerts for farmers without smartphones.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3515258" cy="1920240"/>
          </a:xfrm>
          <a:prstGeom prst="roundRect">
            <a:avLst>
              <a:gd name="adj" fmla="val 4762"/>
            </a:avLst>
          </a:prstGeom>
          <a:solidFill>
            <a:srgbClr val="F4F7F5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95373" y="416052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95373" y="41605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1520" y="4873752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GIS-Based Heatmaps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1520" y="5276088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Leaflet/OpenStreetMap-powered village-level drought and groundwater heatmaps for officials.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338218" y="3977640"/>
            <a:ext cx="3515258" cy="1920240"/>
          </a:xfrm>
          <a:prstGeom prst="roundRect">
            <a:avLst>
              <a:gd name="adj" fmla="val 4762"/>
            </a:avLst>
          </a:prstGeom>
          <a:solidFill>
            <a:srgbClr val="F4F7F5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4952" y="416052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4952" y="41605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521098" y="4873752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 Models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21098" y="5276088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groundwater depletion and crop-water demand from historical and real-time data.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127797" y="3977640"/>
            <a:ext cx="3515258" cy="1920240"/>
          </a:xfrm>
          <a:prstGeom prst="roundRect">
            <a:avLst>
              <a:gd name="adj" fmla="val 4762"/>
            </a:avLst>
          </a:prstGeom>
          <a:solidFill>
            <a:srgbClr val="F4F7F5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74530" y="416052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74530" y="41605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310677" y="4873752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&amp; Field-Sensor Integration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10677" y="5276088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feeds from soil-moisture probes and farm sensors for continuously updated recommendations.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JalSaurashtra  |  Drought &amp; Groundwater Depletion Advisor for Saurashtra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&amp; Submission Checklist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4F7F5"/>
          </a:solidFill>
          <a:ln w="12700">
            <a:solidFill>
              <a:srgbClr val="DDD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URL:  https://paras923.github.io/Jal-Sahayak/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submitting, please ensure the repository is public and includes: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563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264408"/>
            <a:ext cx="103628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3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index.html  —  </a:t>
            </a:r>
            <a:r>
              <a:rPr lang="en-US" sz="123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JalSaurashtra prototype (agent logic, forms, dashboard, charts).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563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3813048"/>
            <a:ext cx="103628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3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Problem_Statement.pdf  —  </a:t>
            </a:r>
            <a:r>
              <a:rPr lang="en-US" sz="123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challenge's problem statement, exactly as issued.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563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4361688"/>
            <a:ext cx="103628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3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Project_Presentation.pptx  —  </a:t>
            </a:r>
            <a:r>
              <a:rPr lang="en-US" sz="123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— architecture, agents, screenshots, novelty &amp; future scope.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563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910328"/>
            <a:ext cx="103628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3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 —  </a:t>
            </a:r>
            <a:r>
              <a:rPr lang="en-US" sz="123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instructions, tech stack summary, and a short demo walkthrough.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548640" y="5614416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FEF3E2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14416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Also enable the README-on-create option when making the repository public, as required by the submission guidelines.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JalSaurashtra  |  Drought &amp; Groundwater Depletion Advisor for Saurashtra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69768" y="502920"/>
            <a:ext cx="5852160" cy="5852160"/>
          </a:xfrm>
          <a:prstGeom prst="ellipse">
            <a:avLst/>
          </a:prstGeom>
          <a:ln w="15240">
            <a:solidFill>
              <a:srgbClr val="4A9D6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92728" y="1325880"/>
            <a:ext cx="4206240" cy="4206240"/>
          </a:xfrm>
          <a:prstGeom prst="ellipse">
            <a:avLst/>
          </a:prstGeom>
          <a:ln w="15240">
            <a:solidFill>
              <a:srgbClr val="4A9D62">
                <a:alpha val="4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38648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000000"/>
                </a:solidFill>
              </a:rPr>
              <a:t>💧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E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JalSaurashtra — Agentic AI for a Drought-Resilient Saurashtra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are welcome.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61264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A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University Engagement Program  •  Eduent Foundation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1727</Words>
  <Application>Microsoft Office PowerPoint</Application>
  <PresentationFormat>Widescreen</PresentationFormat>
  <Paragraphs>241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Eduent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JalSaurashtra - Intelligent Drought &amp; Groundwater Depletion Advisor</dc:title>
  <dc:subject>PptxGenJS Presentation</dc:subject>
  <dc:creator>Eduent Foundation - IBM University Engagement</dc:creator>
  <cp:lastModifiedBy>Paras Bhaliya</cp:lastModifiedBy>
  <cp:revision>2</cp:revision>
  <dcterms:created xsi:type="dcterms:W3CDTF">2026-09-03T06:25:01Z</dcterms:created>
  <dcterms:modified xsi:type="dcterms:W3CDTF">2026-09-03T17:17:01Z</dcterms:modified>
</cp:coreProperties>
</file>